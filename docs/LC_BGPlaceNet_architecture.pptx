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73152"/>
            <a:ext cx="11795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200">
                <a:solidFill>
                  <a:srgbClr val="212121"/>
                </a:solidFill>
                <a:latin typeface="Microsoft YaHei"/>
              </a:rPr>
              <a:t>LC-BGPlaceNet-SC-SQ-HM:语言条件 3D 物体放置网络架构</a:t>
            </a:r>
          </a:p>
          <a:p>
            <a:pPr algn="ctr"/>
            <a:r>
              <a:rPr sz="950" i="1">
                <a:solidFill>
                  <a:srgbClr val="606060"/>
                </a:solidFill>
                <a:latin typeface="Microsoft YaHei"/>
              </a:rPr>
              <a:t>Language-Conditioned · Box-Guided · Source-conditioned Support Context · Single-Query Grounding · Heatmap Placement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3634740" cy="603504"/>
          </a:xfrm>
          <a:prstGeom prst="roundRect">
            <a:avLst/>
          </a:prstGeom>
          <a:solidFill>
            <a:srgbClr val="3747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输入点云  points [N,6]</a:t>
            </a:r>
          </a:p>
          <a:p>
            <a:pPr algn="ctr"/>
            <a:r>
              <a:rPr sz="850">
                <a:solidFill>
                  <a:srgbClr val="ECEFF1"/>
                </a:solidFill>
                <a:latin typeface="Microsoft YaHei"/>
              </a:rPr>
              <a:t>单帧 RGB-D 反投影 (x,y,z,r,g,b)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83380" y="731520"/>
            <a:ext cx="3634740" cy="603504"/>
          </a:xfrm>
          <a:prstGeom prst="roundRect">
            <a:avLst/>
          </a:prstGeom>
          <a:solidFill>
            <a:srgbClr val="3747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语言指令  instruction</a:t>
            </a:r>
          </a:p>
          <a:p>
            <a:pPr algn="ctr"/>
            <a:r>
              <a:rPr sz="850">
                <a:solidFill>
                  <a:srgbClr val="ECEFF1"/>
                </a:solidFill>
                <a:latin typeface="Microsoft YaHei"/>
              </a:rPr>
              <a:t>自然语言放置指令 (str)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34740" cy="603504"/>
          </a:xfrm>
          <a:prstGeom prst="roundRect">
            <a:avLst/>
          </a:prstGeom>
          <a:solidFill>
            <a:srgbClr val="1E88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Sparse 3D Backbone</a:t>
            </a:r>
          </a:p>
          <a:p>
            <a:pPr algn="ctr"/>
            <a:r>
              <a:rPr sz="850">
                <a:solidFill>
                  <a:srgbClr val="ECEFF1"/>
                </a:solidFill>
                <a:latin typeface="Microsoft YaHei"/>
              </a:rPr>
              <a:t>Sparse U-Net → F_3d [Nv,C] + 体素坐标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3380" y="1554480"/>
            <a:ext cx="3634740" cy="603504"/>
          </a:xfrm>
          <a:prstGeom prst="roundRect">
            <a:avLst/>
          </a:prstGeom>
          <a:solidFill>
            <a:srgbClr val="1E88E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Text Encoder</a:t>
            </a:r>
          </a:p>
          <a:p>
            <a:pPr algn="ctr"/>
            <a:r>
              <a:rPr sz="850">
                <a:solidFill>
                  <a:srgbClr val="ECEFF1"/>
                </a:solidFill>
                <a:latin typeface="Microsoft YaHei"/>
              </a:rPr>
              <a:t>RoBERTa(冻结) → text_tokens / text_global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91690" y="1335024"/>
            <a:ext cx="0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00750" y="1335024"/>
            <a:ext cx="0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2377439"/>
            <a:ext cx="7543800" cy="603504"/>
          </a:xfrm>
          <a:prstGeom prst="roundRect">
            <a:avLst/>
          </a:prstGeom>
          <a:solidFill>
            <a:srgbClr val="8E24A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Voxel-Language Fusion(Cross-Attention)</a:t>
            </a:r>
          </a:p>
          <a:p>
            <a:pPr algn="ctr"/>
            <a:r>
              <a:rPr sz="850">
                <a:solidFill>
                  <a:srgbClr val="ECEFF1"/>
                </a:solidFill>
                <a:latin typeface="Microsoft YaHei"/>
              </a:rPr>
              <a:t>Q=F_3d, K=V=text_tokens  →  F_vl 语言条件体素特征 [Nv,C]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1690" y="2157984"/>
            <a:ext cx="445770" cy="21945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554979" y="2157984"/>
            <a:ext cx="445771" cy="21945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3200400"/>
            <a:ext cx="3634740" cy="768096"/>
          </a:xfrm>
          <a:prstGeom prst="roundRect">
            <a:avLst/>
          </a:prstGeom>
          <a:solidFill>
            <a:srgbClr val="43A04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Single-Query Source Grounding</a:t>
            </a:r>
          </a:p>
          <a:p>
            <a:pPr algn="ctr"/>
            <a:r>
              <a:rPr sz="800">
                <a:solidFill>
                  <a:srgbClr val="ECEFF1"/>
                </a:solidFill>
                <a:latin typeface="Microsoft YaHei"/>
              </a:rPr>
              <a:t>Transformer Decoder · 单可学习 query + 语言条件
→ source_box=(c,l,w,h),  f_src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3380" y="3200400"/>
            <a:ext cx="3634740" cy="768096"/>
          </a:xfrm>
          <a:prstGeom prst="roundRect">
            <a:avLst/>
          </a:prstGeom>
          <a:solidFill>
            <a:srgbClr val="00897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Support Surface Head (MLP)</a:t>
            </a:r>
          </a:p>
          <a:p>
            <a:pPr algn="ctr"/>
            <a:r>
              <a:rPr sz="800">
                <a:solidFill>
                  <a:srgbClr val="ECEFF1"/>
                </a:solidFill>
                <a:latin typeface="Microsoft YaHei"/>
              </a:rPr>
              <a:t>逐体素 support_prob → topK 支撑候选点
 support_points / features / prob [B,K,·]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91690" y="2980944"/>
            <a:ext cx="445770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54979" y="2980944"/>
            <a:ext cx="445771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" y="4187952"/>
            <a:ext cx="7543800" cy="749808"/>
          </a:xfrm>
          <a:prstGeom prst="roundRect">
            <a:avLst/>
          </a:prstGeom>
          <a:solidFill>
            <a:srgbClr val="F4511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Source-aware Support Placement Attention</a:t>
            </a:r>
          </a:p>
          <a:p>
            <a:pPr algn="ctr"/>
            <a:r>
              <a:rPr sz="800">
                <a:solidFill>
                  <a:srgbClr val="ECEFF1"/>
                </a:solidFill>
                <a:latin typeface="Microsoft YaHei"/>
              </a:rPr>
              <a:t>Transformer Encoder:[source token(f_src + size_emb + text_global)] + K 个支撑 token 全局交互
→ placement_features [B,K,C]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91690" y="3968496"/>
            <a:ext cx="445770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554979" y="3968496"/>
            <a:ext cx="445771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5157216"/>
            <a:ext cx="3634740" cy="603504"/>
          </a:xfrm>
          <a:prstGeom prst="roundRect">
            <a:avLst/>
          </a:prstGeom>
          <a:solidFill>
            <a:srgbClr val="F9A8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212121"/>
                </a:solidFill>
                <a:latin typeface="Microsoft YaHei"/>
              </a:rPr>
              <a:t>Placement Heatmap Head</a:t>
            </a:r>
          </a:p>
          <a:p>
            <a:pPr algn="ctr"/>
            <a:r>
              <a:rPr sz="850">
                <a:solidFill>
                  <a:srgbClr val="212121"/>
                </a:solidFill>
                <a:latin typeface="Microsoft YaHei"/>
              </a:rPr>
              <a:t>heatmap_logits [B,K]  → 放在哪里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83380" y="5157216"/>
            <a:ext cx="3634740" cy="603504"/>
          </a:xfrm>
          <a:prstGeom prst="roundRect">
            <a:avLst/>
          </a:prstGeom>
          <a:solidFill>
            <a:srgbClr val="F9A8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212121"/>
                </a:solidFill>
                <a:latin typeface="Microsoft YaHei"/>
              </a:rPr>
              <a:t>Placement Yaw Head</a:t>
            </a:r>
          </a:p>
          <a:p>
            <a:pPr algn="ctr"/>
            <a:r>
              <a:rPr sz="850">
                <a:solidFill>
                  <a:srgbClr val="212121"/>
                </a:solidFill>
                <a:latin typeface="Microsoft YaHei"/>
              </a:rPr>
              <a:t>yaw_logits [B,K,24]  → 怎么转 (24-bin)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91690" y="4937760"/>
            <a:ext cx="445770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54979" y="4937760"/>
            <a:ext cx="445771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" y="5980176"/>
            <a:ext cx="7543800" cy="621792"/>
          </a:xfrm>
          <a:prstGeom prst="roundRect">
            <a:avLst/>
          </a:prstGeom>
          <a:solidFill>
            <a:srgbClr val="C6282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"/>
              </a:rPr>
              <a:t>Placement Decode  →  最终输出</a:t>
            </a:r>
          </a:p>
          <a:p>
            <a:pPr algn="ctr"/>
            <a:r>
              <a:rPr sz="800">
                <a:solidFill>
                  <a:srgbClr val="ECEFF1"/>
                </a:solidFill>
                <a:latin typeface="Microsoft YaHei"/>
              </a:rPr>
              <a:t>最高分底面中心 + h/2 得几何中心,继承 source 尺寸,取该位置 yaw  →  place_box=(cx,cy,cz,l,w,h,yaw)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91690" y="5760720"/>
            <a:ext cx="445770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554979" y="5760720"/>
            <a:ext cx="445771" cy="219456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46720" y="749808"/>
            <a:ext cx="3962095" cy="310896"/>
          </a:xfrm>
          <a:prstGeom prst="roundRect">
            <a:avLst/>
          </a:prstGeom>
          <a:solidFill>
            <a:srgbClr val="455A6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000">
                <a:solidFill>
                  <a:srgbClr val="FFFFFF"/>
                </a:solidFill>
                <a:latin typeface="Microsoft YaHei"/>
              </a:rPr>
              <a:t>真实样本  (outputs/free_bbox_hope)</a:t>
            </a:r>
          </a:p>
        </p:txBody>
      </p:sp>
      <p:pic>
        <p:nvPicPr>
          <p:cNvPr id="27" name="Picture 26" descr="example_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133856"/>
            <a:ext cx="3962095" cy="1752808"/>
          </a:xfrm>
          <a:prstGeom prst="rect">
            <a:avLst/>
          </a:prstGeom>
          <a:ln w="9525">
            <a:solidFill>
              <a:srgbClr val="909090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8046720" y="2941528"/>
            <a:ext cx="3962095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Microsoft YaHei"/>
              </a:rPr>
              <a:t>左:RGB 3D-Box 投影  |  右:3D 世界视图(橙=原位置, 绿=放置框, 蓝线=位移)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234136"/>
            <a:ext cx="3962095" cy="841248"/>
          </a:xfrm>
          <a:prstGeom prst="roundRect">
            <a:avLst/>
          </a:prstGeom>
          <a:solidFill>
            <a:srgbClr val="3747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950">
                <a:solidFill>
                  <a:srgbClr val="FFFFFF"/>
                </a:solidFill>
                <a:latin typeface="Microsoft YaHei"/>
              </a:rPr>
              <a:t>instruction 示例</a:t>
            </a:r>
          </a:p>
          <a:p>
            <a:pPr algn="ctr"/>
            <a:r>
              <a:rPr sz="850">
                <a:solidFill>
                  <a:srgbClr val="ECEFF1"/>
                </a:solidFill>
                <a:latin typeface="Microsoft YaHei"/>
              </a:rPr>
              <a:t>"Move Tomato Sauce Can located at the back left of Cream Cheese Box to the front left of Mustard Bottle."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203400"/>
            <a:ext cx="3962095" cy="365760"/>
          </a:xfrm>
          <a:prstGeom prst="roundRect">
            <a:avLst/>
          </a:prstGeom>
          <a:solidFill>
            <a:srgbClr val="455A6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950">
                <a:solidFill>
                  <a:srgbClr val="FFFFFF"/>
                </a:solidFill>
                <a:latin typeface="Microsoft YaHei"/>
              </a:rPr>
              <a:t>训练监督信号 (来自 outputs)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587448"/>
            <a:ext cx="3962095" cy="1188720"/>
          </a:xfrm>
          <a:prstGeom prst="roundRect">
            <a:avLst/>
          </a:prstGeom>
          <a:solidFill>
            <a:srgbClr val="6A1B9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000">
                <a:solidFill>
                  <a:srgbClr val="FFFFFF"/>
                </a:solidFill>
                <a:latin typeface="Microsoft YaHei"/>
              </a:rPr>
              <a:t>总损失  L =</a:t>
            </a:r>
          </a:p>
          <a:p>
            <a:pPr algn="l"/>
            <a:r>
              <a:rPr sz="800">
                <a:solidFill>
                  <a:srgbClr val="FFFFFF"/>
                </a:solidFill>
                <a:latin typeface="Microsoft YaHei"/>
              </a:rPr>
              <a:t>• support_mask.ply  →  L_sup  支撑面分割</a:t>
            </a:r>
          </a:p>
          <a:p>
            <a:pPr algn="l"/>
            <a:r>
              <a:rPr sz="800">
                <a:solidFill>
                  <a:srgbClr val="FFFFFF"/>
                </a:solidFill>
                <a:latin typeface="Microsoft YaHei"/>
              </a:rPr>
              <a:t>• heatmap.ply(底面中心) →  L_heat  放置热力</a:t>
            </a:r>
          </a:p>
          <a:p>
            <a:pPr algn="l"/>
            <a:r>
              <a:rPr sz="800">
                <a:solidFill>
                  <a:srgbClr val="FFFFFF"/>
                </a:solidFill>
                <a:latin typeface="Microsoft YaHei"/>
              </a:rPr>
              <a:t>• box GT  →  L_src  源物体中心+尺寸</a:t>
            </a:r>
          </a:p>
          <a:p>
            <a:pPr algn="l"/>
            <a:r>
              <a:rPr sz="800">
                <a:solidFill>
                  <a:srgbClr val="FFFFFF"/>
                </a:solidFill>
                <a:latin typeface="Microsoft YaHei"/>
              </a:rPr>
              <a:t>• yaw bin GT →  L_yaw  各向异性加权 CE</a:t>
            </a:r>
          </a:p>
          <a:p>
            <a:pPr algn="ctr"/>
            <a:r>
              <a:rPr sz="750" i="1">
                <a:solidFill>
                  <a:srgbClr val="E1BEE7"/>
                </a:solidFill>
                <a:latin typeface="Microsoft YaHei"/>
              </a:rPr>
              <a:t>λ_src·L_src + λ_sup·L_sup + λ_heat·L_heat + λ_yaw·L_yaw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